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6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Robot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Robot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bold.fntdata"/><Relationship Id="rId6" Type="http://schemas.openxmlformats.org/officeDocument/2006/relationships/slide" Target="slides/slide1.xml"/><Relationship Id="rId18" Type="http://schemas.openxmlformats.org/officeDocument/2006/relationships/font" Target="fonts/Robot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Today we will build the structured business context that the future agent will use.</a:t>
            </a:r>
            <a:endParaRPr sz="1800">
              <a:solidFill>
                <a:srgbClr val="73737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Today we will build the structured business context that the future agent will use.</a:t>
            </a:r>
            <a:endParaRPr sz="1800">
              <a:solidFill>
                <a:srgbClr val="73737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slide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slide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 far, we have been building shared understanding. Now we start converting that understanding into files, rules, tests, and repository structure.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slide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slide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important. A common mistake is to jump straight into the agent. But a useful agent needs clean context first. If the context is messy, the agent will be messy.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slide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slide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output of today’s class is a clean context package. This package will later become the input to our first narrow WidgetWare SDR agent.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slide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slide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we mix everything into one prompt, we lose control. Separating context lets us test, inspect, and improve the system safely.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slide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slide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are starting clean in my-work/class-03. We are not copying the Class 2 golden solution unless there is a real dependency. Class 3 gets its own focused starter.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slide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slide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Business facts should not be buried inside prompts. Products, ICP rules, and policy boundaries should live in structured configuration so the system can inspect them.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slide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slide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future agent needs stable instructions. These instructions should say what the agent can use, what it must not do, and how it handles uncertainty.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slide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slide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context builder is the heart of today’s lab. It packages the right information in the right place without letting task data override policy.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slide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slide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These scenarios teach students that agents are not just about happy paths. We need to test weak evidence, bad-fit accounts, and malicious or misleading input.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slide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slide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deliverable is not “the agent works.” The deliverable is “the agent’s future context is structured, testable, and safe.”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slide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slide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Today’s work becomes the foundation for Class 4. Once the context package is clean, we can connect it to ADK and Gemini in a controlled way.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FFFFFF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1485650"/>
            <a:ext cx="9144000" cy="3657900"/>
          </a:xfrm>
          <a:prstGeom prst="rect">
            <a:avLst/>
          </a:prstGeom>
          <a:solidFill>
            <a:srgbClr val="4285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FF"/>
              </a:solidFill>
            </a:endParaRPr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>
                <a:solidFill>
                  <a:srgbClr val="FFFFFF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9pPr>
          </a:lstStyle>
          <a:p/>
        </p:txBody>
      </p:sp>
      <p:pic>
        <p:nvPicPr>
          <p:cNvPr id="15" name="Google Shape;15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935988" y="83267"/>
            <a:ext cx="1829494" cy="869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/>
          <p:nvPr/>
        </p:nvSpPr>
        <p:spPr>
          <a:xfrm>
            <a:off x="-150" y="-28075"/>
            <a:ext cx="9144000" cy="967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-150" y="87000"/>
            <a:ext cx="91440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0" y="939725"/>
            <a:ext cx="9144000" cy="42039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7316350" y="4684675"/>
            <a:ext cx="17559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Cloud</a:t>
            </a:r>
            <a:r>
              <a:rPr lang="en" sz="2400">
                <a:solidFill>
                  <a:srgbClr val="F7C002"/>
                </a:solidFill>
                <a:latin typeface="Roboto"/>
                <a:ea typeface="Roboto"/>
                <a:cs typeface="Roboto"/>
                <a:sym typeface="Roboto"/>
              </a:rPr>
              <a:t>Karya</a:t>
            </a:r>
            <a:endParaRPr sz="2400"/>
          </a:p>
        </p:txBody>
      </p:sp>
      <p:pic>
        <p:nvPicPr>
          <p:cNvPr id="21" name="Google Shape;21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367" y="4659169"/>
            <a:ext cx="702016" cy="3334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 flipH="1" rot="10800000">
            <a:off x="44825" y="829200"/>
            <a:ext cx="9099300" cy="4314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4"/>
          <p:cNvSpPr txBox="1"/>
          <p:nvPr>
            <p:ph type="title"/>
          </p:nvPr>
        </p:nvSpPr>
        <p:spPr>
          <a:xfrm>
            <a:off x="135725" y="0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281400" y="1112250"/>
            <a:ext cx="4279500" cy="374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❖"/>
              <a:defRPr sz="17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Clr>
                <a:srgbClr val="212529"/>
              </a:buClr>
              <a:buSzPts val="1200"/>
              <a:buChar char="➢"/>
              <a:defRPr sz="1500" u="sng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◆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➢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◆"/>
              <a:defRPr sz="1200"/>
            </a:lvl9pPr>
          </a:lstStyle>
          <a:p/>
        </p:txBody>
      </p:sp>
      <p:sp>
        <p:nvSpPr>
          <p:cNvPr id="27" name="Google Shape;27;p4"/>
          <p:cNvSpPr txBox="1"/>
          <p:nvPr>
            <p:ph idx="2" type="body"/>
          </p:nvPr>
        </p:nvSpPr>
        <p:spPr>
          <a:xfrm>
            <a:off x="4694250" y="10001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" name="Google Shape;29;p4"/>
          <p:cNvSpPr txBox="1"/>
          <p:nvPr/>
        </p:nvSpPr>
        <p:spPr>
          <a:xfrm>
            <a:off x="7316350" y="4684675"/>
            <a:ext cx="17559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Cloud</a:t>
            </a:r>
            <a:r>
              <a:rPr lang="en" sz="2400">
                <a:solidFill>
                  <a:srgbClr val="F7C002"/>
                </a:solidFill>
                <a:latin typeface="Roboto"/>
                <a:ea typeface="Roboto"/>
                <a:cs typeface="Roboto"/>
                <a:sym typeface="Roboto"/>
              </a:rPr>
              <a:t>Karya</a:t>
            </a:r>
            <a:endParaRPr sz="2400"/>
          </a:p>
        </p:txBody>
      </p:sp>
      <p:pic>
        <p:nvPicPr>
          <p:cNvPr id="30" name="Google Shape;30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367" y="4659169"/>
            <a:ext cx="702016" cy="3334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5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5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" name="Google Shape;36;p5"/>
          <p:cNvSpPr txBox="1"/>
          <p:nvPr/>
        </p:nvSpPr>
        <p:spPr>
          <a:xfrm>
            <a:off x="7316350" y="4684675"/>
            <a:ext cx="17559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Cloud</a:t>
            </a:r>
            <a:r>
              <a:rPr lang="en" sz="2400">
                <a:solidFill>
                  <a:srgbClr val="F7C002"/>
                </a:solidFill>
                <a:latin typeface="Roboto"/>
                <a:ea typeface="Roboto"/>
                <a:cs typeface="Roboto"/>
                <a:sym typeface="Roboto"/>
              </a:rPr>
              <a:t>Karya</a:t>
            </a:r>
            <a:endParaRPr sz="2400"/>
          </a:p>
        </p:txBody>
      </p:sp>
      <p:pic>
        <p:nvPicPr>
          <p:cNvPr id="37" name="Google Shape;37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367" y="4659169"/>
            <a:ext cx="702016" cy="3334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/>
          <p:nvPr>
            <p:ph hasCustomPrompt="1" type="title"/>
          </p:nvPr>
        </p:nvSpPr>
        <p:spPr>
          <a:xfrm>
            <a:off x="0" y="1669675"/>
            <a:ext cx="9144000" cy="1059300"/>
          </a:xfrm>
          <a:prstGeom prst="rect">
            <a:avLst/>
          </a:prstGeom>
          <a:solidFill>
            <a:srgbClr val="4285F4"/>
          </a:solidFill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None/>
              <a:defRPr sz="6600">
                <a:solidFill>
                  <a:srgbClr val="FFFFFF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0" name="Google Shape;40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" name="Google Shape;41;p6"/>
          <p:cNvSpPr txBox="1"/>
          <p:nvPr/>
        </p:nvSpPr>
        <p:spPr>
          <a:xfrm>
            <a:off x="7316350" y="4684675"/>
            <a:ext cx="17559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Cloud</a:t>
            </a:r>
            <a:r>
              <a:rPr lang="en" sz="2400">
                <a:solidFill>
                  <a:srgbClr val="F7C002"/>
                </a:solidFill>
                <a:latin typeface="Roboto"/>
                <a:ea typeface="Roboto"/>
                <a:cs typeface="Roboto"/>
                <a:sym typeface="Roboto"/>
              </a:rPr>
              <a:t>Karya</a:t>
            </a:r>
            <a:endParaRPr sz="2400"/>
          </a:p>
        </p:txBody>
      </p:sp>
      <p:pic>
        <p:nvPicPr>
          <p:cNvPr id="42" name="Google Shape;42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367" y="4659169"/>
            <a:ext cx="702016" cy="3334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7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6" name="Google Shape;4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sz="14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sz="14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sz="14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sz="14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 sz="14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</p:sldLayoutIdLst>
  <p:transition spd="med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 txBox="1"/>
          <p:nvPr>
            <p:ph type="ctrTitle"/>
          </p:nvPr>
        </p:nvSpPr>
        <p:spPr>
          <a:xfrm>
            <a:off x="0" y="1819275"/>
            <a:ext cx="91440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lt1"/>
                </a:solidFill>
              </a:rPr>
              <a:t>Class 3: Build the WidgetWare SDR Context Package</a:t>
            </a:r>
            <a:endParaRPr/>
          </a:p>
        </p:txBody>
      </p:sp>
      <p:sp>
        <p:nvSpPr>
          <p:cNvPr id="60" name="Google Shape;60;p10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1"/>
          <p:cNvSpPr txBox="1"/>
          <p:nvPr>
            <p:ph type="title"/>
          </p:nvPr>
        </p:nvSpPr>
        <p:spPr>
          <a:xfrm>
            <a:off x="-150" y="87000"/>
            <a:ext cx="91440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Where We Are in the Course</a:t>
            </a:r>
            <a:endParaRPr/>
          </a:p>
        </p:txBody>
      </p:sp>
      <p:sp>
        <p:nvSpPr>
          <p:cNvPr id="66" name="Google Shape;66;p11"/>
          <p:cNvSpPr txBox="1"/>
          <p:nvPr>
            <p:ph idx="1" type="body"/>
          </p:nvPr>
        </p:nvSpPr>
        <p:spPr>
          <a:xfrm>
            <a:off x="0" y="939725"/>
            <a:ext cx="9144000" cy="420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already covered: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What agents are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What an SDR does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How WidgetWare fits the SDR workflow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Antigravity IDE setup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Today we move from concept to implementation.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2"/>
          <p:cNvSpPr txBox="1"/>
          <p:nvPr>
            <p:ph type="title"/>
          </p:nvPr>
        </p:nvSpPr>
        <p:spPr>
          <a:xfrm>
            <a:off x="-150" y="87000"/>
            <a:ext cx="91440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We Are Not Building Yet</a:t>
            </a:r>
            <a:endParaRPr/>
          </a:p>
        </p:txBody>
      </p:sp>
      <p:sp>
        <p:nvSpPr>
          <p:cNvPr id="72" name="Google Shape;72;p12"/>
          <p:cNvSpPr txBox="1"/>
          <p:nvPr>
            <p:ph idx="1" type="body"/>
          </p:nvPr>
        </p:nvSpPr>
        <p:spPr>
          <a:xfrm>
            <a:off x="0" y="939725"/>
            <a:ext cx="9144000" cy="420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Today we are not building: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ADK agent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Gemini calls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Email automation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CRM integration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Web search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Deployment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3"/>
          <p:cNvSpPr txBox="1"/>
          <p:nvPr>
            <p:ph type="title"/>
          </p:nvPr>
        </p:nvSpPr>
        <p:spPr>
          <a:xfrm>
            <a:off x="-150" y="87000"/>
            <a:ext cx="91440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We Are Building</a:t>
            </a:r>
            <a:endParaRPr/>
          </a:p>
        </p:txBody>
      </p:sp>
      <p:sp>
        <p:nvSpPr>
          <p:cNvPr id="78" name="Google Shape;78;p13"/>
          <p:cNvSpPr txBox="1"/>
          <p:nvPr>
            <p:ph idx="1" type="body"/>
          </p:nvPr>
        </p:nvSpPr>
        <p:spPr>
          <a:xfrm>
            <a:off x="0" y="939725"/>
            <a:ext cx="9144000" cy="420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Today we build: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WidgetWare product context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Ideal Customer Profile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SDR policies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Agent instructions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Context builder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Test scenarios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/>
          <p:nvPr>
            <p:ph type="title"/>
          </p:nvPr>
        </p:nvSpPr>
        <p:spPr>
          <a:xfrm>
            <a:off x="-150" y="87000"/>
            <a:ext cx="91440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Context Comes Before the Agent</a:t>
            </a:r>
            <a:endParaRPr/>
          </a:p>
        </p:txBody>
      </p:sp>
      <p:sp>
        <p:nvSpPr>
          <p:cNvPr id="84" name="Google Shape;84;p14"/>
          <p:cNvSpPr txBox="1"/>
          <p:nvPr>
            <p:ph idx="1" type="body"/>
          </p:nvPr>
        </p:nvSpPr>
        <p:spPr>
          <a:xfrm>
            <a:off x="0" y="939725"/>
            <a:ext cx="9144000" cy="420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good agent needs separated context: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System instructions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Business context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Task context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Evidence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Workflow state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5"/>
          <p:cNvSpPr txBox="1"/>
          <p:nvPr>
            <p:ph type="title"/>
          </p:nvPr>
        </p:nvSpPr>
        <p:spPr>
          <a:xfrm>
            <a:off x="-150" y="87000"/>
            <a:ext cx="91440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 3 Repository Structure</a:t>
            </a:r>
            <a:endParaRPr/>
          </a:p>
        </p:txBody>
      </p:sp>
      <p:sp>
        <p:nvSpPr>
          <p:cNvPr id="90" name="Google Shape;90;p15"/>
          <p:cNvSpPr txBox="1"/>
          <p:nvPr>
            <p:ph idx="1" type="body"/>
          </p:nvPr>
        </p:nvSpPr>
        <p:spPr>
          <a:xfrm>
            <a:off x="0" y="939725"/>
            <a:ext cx="9144000" cy="420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Students will create: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my-work/class-03/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├── config/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├── docs/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├── src/widgetware_sdr/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└── tests/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6"/>
          <p:cNvSpPr txBox="1"/>
          <p:nvPr>
            <p:ph type="title"/>
          </p:nvPr>
        </p:nvSpPr>
        <p:spPr>
          <a:xfrm>
            <a:off x="-150" y="87000"/>
            <a:ext cx="91440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Configuration Files</a:t>
            </a:r>
            <a:endParaRPr/>
          </a:p>
        </p:txBody>
      </p:sp>
      <p:sp>
        <p:nvSpPr>
          <p:cNvPr id="96" name="Google Shape;96;p16"/>
          <p:cNvSpPr txBox="1"/>
          <p:nvPr>
            <p:ph idx="1" type="body"/>
          </p:nvPr>
        </p:nvSpPr>
        <p:spPr>
          <a:xfrm>
            <a:off x="0" y="939725"/>
            <a:ext cx="9144000" cy="420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Inside config/: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products.yaml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icp.yaml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policies.yaml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These hold stable business rules.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7"/>
          <p:cNvSpPr txBox="1"/>
          <p:nvPr>
            <p:ph type="title"/>
          </p:nvPr>
        </p:nvSpPr>
        <p:spPr>
          <a:xfrm>
            <a:off x="-150" y="87000"/>
            <a:ext cx="91440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Agent Instructions</a:t>
            </a:r>
            <a:endParaRPr/>
          </a:p>
        </p:txBody>
      </p:sp>
      <p:sp>
        <p:nvSpPr>
          <p:cNvPr id="102" name="Google Shape;102;p17"/>
          <p:cNvSpPr txBox="1"/>
          <p:nvPr>
            <p:ph idx="1" type="body"/>
          </p:nvPr>
        </p:nvSpPr>
        <p:spPr>
          <a:xfrm>
            <a:off x="0" y="939725"/>
            <a:ext cx="9144000" cy="420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Create: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src/widgetware_sdr/instructions.py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instructions define: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Agent role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Evidence rules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Safety boundaries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Escalation behavior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8"/>
          <p:cNvSpPr txBox="1"/>
          <p:nvPr>
            <p:ph type="title"/>
          </p:nvPr>
        </p:nvSpPr>
        <p:spPr>
          <a:xfrm>
            <a:off x="-150" y="87000"/>
            <a:ext cx="91440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Context Builder</a:t>
            </a:r>
            <a:endParaRPr/>
          </a:p>
        </p:txBody>
      </p:sp>
      <p:sp>
        <p:nvSpPr>
          <p:cNvPr id="108" name="Google Shape;108;p18"/>
          <p:cNvSpPr txBox="1"/>
          <p:nvPr>
            <p:ph idx="1" type="body"/>
          </p:nvPr>
        </p:nvSpPr>
        <p:spPr>
          <a:xfrm>
            <a:off x="0" y="939725"/>
            <a:ext cx="9144000" cy="420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Create: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src/widgetware_sdr/context_builder.py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It assembles: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Instructions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Product context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ICP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Policies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Account data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Evidence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State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9"/>
          <p:cNvSpPr txBox="1"/>
          <p:nvPr>
            <p:ph type="title"/>
          </p:nvPr>
        </p:nvSpPr>
        <p:spPr>
          <a:xfrm>
            <a:off x="-150" y="87000"/>
            <a:ext cx="91440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Four Required Scenarios</a:t>
            </a:r>
            <a:endParaRPr/>
          </a:p>
        </p:txBody>
      </p:sp>
      <p:sp>
        <p:nvSpPr>
          <p:cNvPr id="114" name="Google Shape;114;p19"/>
          <p:cNvSpPr txBox="1"/>
          <p:nvPr>
            <p:ph idx="1" type="body"/>
          </p:nvPr>
        </p:nvSpPr>
        <p:spPr>
          <a:xfrm>
            <a:off x="0" y="939725"/>
            <a:ext cx="9144000" cy="420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will test: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Qualified account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Unqualified account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Insufficient evidence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Prompt injection attempt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0"/>
          <p:cNvSpPr txBox="1"/>
          <p:nvPr>
            <p:ph type="title"/>
          </p:nvPr>
        </p:nvSpPr>
        <p:spPr>
          <a:xfrm>
            <a:off x="-150" y="87000"/>
            <a:ext cx="91440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Definition of Done</a:t>
            </a:r>
            <a:endParaRPr/>
          </a:p>
        </p:txBody>
      </p:sp>
      <p:sp>
        <p:nvSpPr>
          <p:cNvPr id="120" name="Google Shape;120;p20"/>
          <p:cNvSpPr txBox="1"/>
          <p:nvPr>
            <p:ph idx="1" type="body"/>
          </p:nvPr>
        </p:nvSpPr>
        <p:spPr>
          <a:xfrm>
            <a:off x="0" y="939725"/>
            <a:ext cx="9144000" cy="420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Class 3 is complete when: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Context files exist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Context layers are separate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Tests pass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 ADK agent exists yet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 external action exists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1"/>
          <p:cNvSpPr txBox="1"/>
          <p:nvPr>
            <p:ph type="title"/>
          </p:nvPr>
        </p:nvSpPr>
        <p:spPr>
          <a:xfrm>
            <a:off x="-150" y="87000"/>
            <a:ext cx="91440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This Enables Next</a:t>
            </a:r>
            <a:endParaRPr/>
          </a:p>
        </p:txBody>
      </p:sp>
      <p:sp>
        <p:nvSpPr>
          <p:cNvPr id="126" name="Google Shape;126;p21"/>
          <p:cNvSpPr txBox="1"/>
          <p:nvPr>
            <p:ph idx="1" type="body"/>
          </p:nvPr>
        </p:nvSpPr>
        <p:spPr>
          <a:xfrm>
            <a:off x="0" y="939725"/>
            <a:ext cx="9144000" cy="420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Next class: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Class 4: Build the first narrow WidgetWare SDR agent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It will use today’s context package.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