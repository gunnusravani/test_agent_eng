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8"/>
    <p:sldId id="266" r:id="rId7"/>
    <p:sldId id="267" r:id="rId6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font" Target="fonts/Roboto-regular.fntdata"/><Relationship Id="rId19" Type="http://schemas.openxmlformats.org/officeDocument/2006/relationships/font" Target="fonts/Roboto-bold.fntdata"/><Relationship Id="rId20" Type="http://schemas.openxmlformats.org/officeDocument/2006/relationships/font" Target="fonts/Roboto-italic.fntdata"/><Relationship Id="rId21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485650"/>
            <a:ext cx="9144000" cy="36579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FF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35988" y="83267"/>
            <a:ext cx="1829494" cy="86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-150" y="-28075"/>
            <a:ext cx="9144000" cy="967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-150" y="87000"/>
            <a:ext cx="91440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0" y="939725"/>
            <a:ext cx="9144000" cy="4203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flipH="1" rot="10800000">
            <a:off x="44825" y="829200"/>
            <a:ext cx="9099300" cy="43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135725" y="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81400" y="1112250"/>
            <a:ext cx="4279500" cy="37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❖"/>
              <a:defRPr sz="17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212529"/>
              </a:buClr>
              <a:buSzPts val="1200"/>
              <a:buChar char="➢"/>
              <a:defRPr sz="1500" u="sng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◆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➢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◆"/>
              <a:defRPr sz="1200"/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4694250" y="10001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hasCustomPrompt="1" type="title"/>
          </p:nvPr>
        </p:nvSpPr>
        <p:spPr>
          <a:xfrm>
            <a:off x="0" y="1669675"/>
            <a:ext cx="9144000" cy="1059300"/>
          </a:xfrm>
          <a:prstGeom prst="rect">
            <a:avLst/>
          </a:prstGeom>
          <a:solidFill>
            <a:srgbClr val="4285F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6"/>
          <p:cNvSpPr txBox="1"/>
          <p:nvPr/>
        </p:nvSpPr>
        <p:spPr>
          <a:xfrm>
            <a:off x="7316350" y="4684675"/>
            <a:ext cx="175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r>
              <a:rPr lang="en" sz="2400">
                <a:solidFill>
                  <a:srgbClr val="F7C002"/>
                </a:solidFill>
                <a:latin typeface="Roboto"/>
                <a:ea typeface="Roboto"/>
                <a:cs typeface="Roboto"/>
                <a:sym typeface="Roboto"/>
              </a:rPr>
              <a:t>Karya</a:t>
            </a:r>
            <a:endParaRPr sz="2400"/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67" y="4659169"/>
            <a:ext cx="702016" cy="33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sz="1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Class 2: Build the Antigravity Project Suite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in the Course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We already covered:</a:t>
            </a:r>
          </a:p>
          <a:p>
            <a:pPr lvl="1"/>
            <a:r>
              <a:t>Git and GitHub fundamentals</a:t>
            </a:r>
          </a:p>
          <a:p>
            <a:pPr lvl="1"/>
            <a:r>
              <a:t>Setting up the Antigravity IDE workspace</a:t>
            </a:r>
          </a:p>
          <a:p>
            <a:pPr lvl="1"/>
            <a:r>
              <a:t>Forking and submitting a repository for grading</a:t>
            </a:r>
          </a:p>
          <a:p>
            <a:pPr/>
            <a:r>
              <a:t>Today we move from one small repo to four real, independent builds.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Building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This assignment is four independent projects, not one app:</a:t>
            </a:r>
          </a:p>
          <a:p>
            <a:pPr lvl="1"/>
            <a:r>
              <a:t>News Highlights — a research-agent-generated summary</a:t>
            </a:r>
          </a:p>
          <a:p>
            <a:pPr lvl="1"/>
            <a:r>
              <a:t>Conference Website — a small Flask web app</a:t>
            </a:r>
          </a:p>
          <a:p>
            <a:pPr lvl="1"/>
            <a:r>
              <a:t>Mock Stubs — an implementation plus its unit tests</a:t>
            </a:r>
          </a:p>
          <a:p>
            <a:pPr lvl="1"/>
            <a:r>
              <a:t>Pomodoro Timer — a working timer app, any frontend stack</a:t>
            </a:r>
          </a:p>
          <a:p>
            <a:pPr/>
            <a:r>
              <a:t>Each is graded on its own merits, with its own point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Philosophy — Read This First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The codelab structure is a minimum baseline, not a strict template:</a:t>
            </a:r>
          </a:p>
          <a:p>
            <a:pPr lvl="1"/>
            <a:r>
              <a:t>Folder and file names just need to be recognizable, not exact</a:t>
            </a:r>
          </a:p>
          <a:p>
            <a:pPr lvl="1"/>
            <a:r>
              <a:t>Extra features, extra folders, and alternate implementations are not deviations</a:t>
            </a:r>
          </a:p>
          <a:p>
            <a:pPr lvl="1"/>
            <a:r>
              <a:t>Meaningful extensions earn bonus credit instead of being flagged</a:t>
            </a:r>
          </a:p>
          <a:p>
            <a:pPr lvl="1"/>
            <a:r>
              <a:t>Grading looks at whether the objective is met, not a checklist match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2 Repository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Everything lives under your fork's my-work folder:</a:t>
            </a:r>
          </a:p>
          <a:p>
            <a:pPr/>
            <a:r>
              <a:t>my-work/class-02/</a:t>
            </a:r>
          </a:p>
          <a:p>
            <a:pPr lvl="1"/>
            <a:r>
              <a:t>README.md</a:t>
            </a:r>
          </a:p>
          <a:p>
            <a:pPr lvl="1"/>
            <a:r>
              <a:t>agy2-pprojects/</a:t>
            </a:r>
          </a:p>
          <a:p>
            <a:pPr lvl="2"/>
            <a:r>
              <a:t>news-highlights/</a:t>
            </a:r>
          </a:p>
          <a:p>
            <a:pPr lvl="2"/>
            <a:r>
              <a:t>conference-website/</a:t>
            </a:r>
          </a:p>
          <a:p>
            <a:pPr lvl="2"/>
            <a:r>
              <a:t>mock-stubs/</a:t>
            </a:r>
          </a:p>
          <a:p>
            <a:pPr lvl="2"/>
            <a:r>
              <a:t>pomodoro-timer/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1: News Highlights (10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Use an agent to research and summarize recent news:</a:t>
            </a:r>
          </a:p>
          <a:p>
            <a:pPr lvl="1"/>
            <a:r>
              <a:t>A written summary (e.g. summary.txt or a markdown file)</a:t>
            </a:r>
          </a:p>
          <a:p>
            <a:pPr lvl="1"/>
            <a:r>
              <a:t>Clear headlines or paragraph structure</a:t>
            </a:r>
          </a:p>
          <a:p>
            <a:pPr lvl="1"/>
            <a:r>
              <a:t>Evidence of genuine research, not filler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2: Conference Website (30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 small Flask web app for a conference:</a:t>
            </a:r>
          </a:p>
          <a:p>
            <a:pPr lvl="1"/>
            <a:r>
              <a:t>app.py with working routes (home page, at least one API-style endpoint)</a:t>
            </a:r>
          </a:p>
          <a:p>
            <a:pPr lvl="1"/>
            <a:r>
              <a:t>templates/ for HTML pages</a:t>
            </a:r>
          </a:p>
          <a:p>
            <a:pPr lvl="1"/>
            <a:r>
              <a:t>static/ for CSS and JS</a:t>
            </a:r>
          </a:p>
          <a:p>
            <a:pPr lvl="1"/>
            <a:r>
              <a:t>The largest project — most of the assignment's points live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3: Mock Stubs (20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An implementation file plus its unit tests:</a:t>
            </a:r>
          </a:p>
          <a:p>
            <a:pPr lvl="1"/>
            <a:r>
              <a:t>A service or module with real functions (not just stubs)</a:t>
            </a:r>
          </a:p>
          <a:p>
            <a:pPr lvl="1"/>
            <a:r>
              <a:t>A test file that imports and actually exercises that module</a:t>
            </a:r>
          </a:p>
          <a:p>
            <a:pPr lvl="1"/>
            <a:r>
              <a:t>Tests should assert real behavior, not just "pass"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4: Pomodoro Timer (25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 working Pomodoro-style timer app:</a:t>
            </a:r>
          </a:p>
          <a:p>
            <a:pPr lvl="1"/>
            <a:r>
              <a:t>Any framework is fine — React, vanilla JS, Vue, etc.</a:t>
            </a:r>
          </a:p>
          <a:p>
            <a:pPr lvl="1"/>
            <a:r>
              <a:t>Core timer behavior (start, pause, work/break cycles)</a:t>
            </a:r>
          </a:p>
          <a:p>
            <a:pPr lvl="1"/>
            <a:r>
              <a:t>Extra features (themes, sounds, stats) are bonus, not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 Requirements (15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Your class-02 README should cover:</a:t>
            </a:r>
          </a:p>
          <a:p>
            <a:pPr lvl="1"/>
            <a:r>
              <a:t>Student information</a:t>
            </a:r>
          </a:p>
          <a:p>
            <a:pPr lvl="1"/>
            <a:r>
              <a:t>Projects completed</a:t>
            </a:r>
          </a:p>
          <a:p>
            <a:pPr lvl="1"/>
            <a:r>
              <a:t>Prompts used with the agent</a:t>
            </a:r>
          </a:p>
          <a:p>
            <a:pPr lvl="1"/>
            <a:r>
              <a:t>Lessons learned</a:t>
            </a:r>
          </a:p>
          <a:p>
            <a:pPr lvl="1"/>
            <a:r>
              <a:t>Challenges you ran into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Credit (up to +10 pts)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Go beyond the minimum and it counts in your favor:</a:t>
            </a:r>
          </a:p>
          <a:p>
            <a:pPr lvl="1"/>
            <a:r>
              <a:t>Meaningful extra features on any of the four projects</a:t>
            </a:r>
          </a:p>
          <a:p>
            <a:pPr lvl="1"/>
            <a:r>
              <a:t>Thoughtful UI/UX polish</a:t>
            </a:r>
          </a:p>
          <a:p>
            <a:pPr lvl="1"/>
            <a:r>
              <a:t>Extra tests, extra routes, extra creativity</a:t>
            </a:r>
          </a:p>
          <a:p>
            <a:pPr/>
            <a:r>
              <a:t>This is graded from what the grader actually finds — no separate submission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Done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Class 2 is complete when:</a:t>
            </a:r>
          </a:p>
          <a:p>
            <a:pPr lvl="1"/>
            <a:r>
              <a:t>All four project folders exist with real, working content</a:t>
            </a:r>
          </a:p>
          <a:p>
            <a:pPr lvl="1"/>
            <a:r>
              <a:t>README.md covers all five required sections</a:t>
            </a:r>
          </a:p>
          <a:p>
            <a:pPr lvl="1"/>
            <a:r>
              <a:t>Each project does what its name says it does</a:t>
            </a:r>
          </a:p>
          <a:p>
            <a:pPr lvl="1"/>
            <a:r>
              <a:t>Your fork is pushed and submitted through the evaluator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